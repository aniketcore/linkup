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640080"/>
            <a:ext cx="10362895" cy="594360"/>
          </a:xfrm>
          <a:prstGeom prst="roundRect">
            <a:avLst/>
          </a:prstGeom>
          <a:solidFill>
            <a:srgbClr val="10385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🏛️ PROBLEM STATEMENT: GOV TECH PS1   |   👥 TEAM: THE PARADIGM   |   DIGITAL GOVERNANCE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3474720" cy="19409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1371600"/>
            <a:ext cx="6583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Building Permit Approval &amp;</a:t>
            </a:r>
            <a:br/>
            <a:r>
              <a:t>Tracking System (BPAMS)</a:t>
            </a:r>
          </a:p>
          <a:p>
            <a:pPr>
              <a:defRPr sz="1700" b="1">
                <a:solidFill>
                  <a:srgbClr val="F59E0B"/>
                </a:solidFill>
              </a:defRPr>
            </a:pPr>
            <a:r>
              <a:t>One permit. Many departments. Zero blind spots.</a:t>
            </a:r>
          </a:p>
          <a:p>
            <a:pPr>
              <a:defRPr sz="1250">
                <a:solidFill>
                  <a:srgbClr val="E2E8F0"/>
                </a:solidFill>
              </a:defRPr>
            </a:pPr>
            <a:r>
              <a:t>A transparent, sequential building-permit workflow with real-time multi-department scrutiny tracking for applicants, officials, and citizens.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840480"/>
            <a:ext cx="10362895" cy="2377440"/>
          </a:xfrm>
          <a:prstGeom prst="rect">
            <a:avLst/>
          </a:prstGeom>
          <a:solidFill>
            <a:srgbClr val="071E32"/>
          </a:solidFill>
          <a:ln w="12700">
            <a:solidFill>
              <a:srgbClr val="1E4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9319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UPDATED ENTERPRISE TECH STACK &amp; SYSTEM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389120"/>
            <a:ext cx="2377440" cy="1645920"/>
          </a:xfrm>
          <a:prstGeom prst="roundRect">
            <a:avLst/>
          </a:prstGeom>
          <a:solidFill>
            <a:srgbClr val="0C2844"/>
          </a:solidFill>
          <a:ln>
            <a:solidFill>
              <a:srgbClr val="19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50" b="1">
                <a:solidFill>
                  <a:srgbClr val="F59E0B"/>
                </a:solidFill>
              </a:defRPr>
            </a:pPr>
            <a:r>
              <a:t>🌐 Frontend Application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Next.js (App Router / Vinext)</a:t>
            </a:r>
            <a:br/>
            <a:r>
              <a:t>React 19 &amp; TypeScript</a:t>
            </a:r>
            <a:br/>
            <a:r>
              <a:t>Tailwind CSS v4</a:t>
            </a:r>
            <a:br/>
            <a:r>
              <a:t>GIGW Accessibility Suite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4389120"/>
            <a:ext cx="2377440" cy="1645920"/>
          </a:xfrm>
          <a:prstGeom prst="roundRect">
            <a:avLst/>
          </a:prstGeom>
          <a:solidFill>
            <a:srgbClr val="0C2844"/>
          </a:solidFill>
          <a:ln>
            <a:solidFill>
              <a:srgbClr val="19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50" b="1">
                <a:solidFill>
                  <a:srgbClr val="F59E0B"/>
                </a:solidFill>
              </a:defRPr>
            </a:pPr>
            <a:r>
              <a:t>⚙️ Backend Services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Node.js REST API Architecture</a:t>
            </a:r>
            <a:br/>
            <a:r>
              <a:t>Cloudflare Edge / Workers</a:t>
            </a:r>
            <a:br/>
            <a:r>
              <a:t>Sequential State Machine</a:t>
            </a:r>
            <a:br/>
            <a:r>
              <a:t>Multipart File Uploads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389120"/>
            <a:ext cx="2377440" cy="1645920"/>
          </a:xfrm>
          <a:prstGeom prst="roundRect">
            <a:avLst/>
          </a:prstGeom>
          <a:solidFill>
            <a:srgbClr val="0C2844"/>
          </a:solidFill>
          <a:ln>
            <a:solidFill>
              <a:srgbClr val="19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50" b="1">
                <a:solidFill>
                  <a:srgbClr val="F59E0B"/>
                </a:solidFill>
              </a:defRPr>
            </a:pPr>
            <a:r>
              <a:t>🔒 Security &amp; Auth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Firebase Authentication</a:t>
            </a:r>
            <a:br/>
            <a:r>
              <a:t>Role-Based Access (RBAC)</a:t>
            </a:r>
            <a:br/>
            <a:r>
              <a:t>Data Isolation &amp; Encryption</a:t>
            </a:r>
            <a:br/>
            <a:r>
              <a:t>Session &amp; Token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0" y="4389120"/>
            <a:ext cx="2377440" cy="1645920"/>
          </a:xfrm>
          <a:prstGeom prst="roundRect">
            <a:avLst/>
          </a:prstGeom>
          <a:solidFill>
            <a:srgbClr val="0C2844"/>
          </a:solidFill>
          <a:ln>
            <a:solidFill>
              <a:srgbClr val="194B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ctr">
              <a:defRPr sz="1150" b="1">
                <a:solidFill>
                  <a:srgbClr val="F59E0B"/>
                </a:solidFill>
              </a:defRPr>
            </a:pPr>
            <a:r>
              <a:t>📜 Standards &amp; Governance</a:t>
            </a:r>
          </a:p>
          <a:p>
            <a:pPr>
              <a:defRPr sz="1000">
                <a:solidFill>
                  <a:srgbClr val="F1F5F9"/>
                </a:solidFill>
              </a:defRPr>
            </a:pPr>
            <a:r>
              <a:t>WCAG 2.0 AA / GIGW</a:t>
            </a:r>
            <a:br/>
            <a:r>
              <a:t>Immutable Audit Trail</a:t>
            </a:r>
            <a:br/>
            <a:r>
              <a:t>Model Building Bye-Laws 2026</a:t>
            </a:r>
            <a:br/>
            <a:r>
              <a:t>Public CAPTCHA &amp; Privacy Guard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01 · DEFINE THE PROBLEM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Nobody can see where a permit is stuck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10215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LinkUp • Building Permit Approval Management System | Team: The paradigm | Slide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32918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👤 Applicants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Visit municipal offices again and again just to ask for status updates.</a:t>
            </a:r>
            <a:br/>
            <a:br/>
            <a:r>
              <a:t>• Physical desk-to-desk file tracing</a:t>
            </a:r>
            <a:br/>
            <a:r>
              <a:t>• Unrecorded verbal queries</a:t>
            </a:r>
            <a:br/>
            <a:r>
              <a:t>• Weeks of preventable delays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63040"/>
            <a:ext cx="32918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🏢 Departments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Work in isolation on paper files with zero shared records of decisions.</a:t>
            </a:r>
            <a:br/>
            <a:br/>
            <a:r>
              <a:t>• Fragmented departmental files</a:t>
            </a:r>
            <a:br/>
            <a:r>
              <a:t>• No visibility of prior clearances</a:t>
            </a:r>
            <a:br/>
            <a:r>
              <a:t>• Zero accountability for file dwell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63040"/>
            <a:ext cx="329184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defRPr sz="1800" b="1">
                <a:solidFill>
                  <a:srgbClr val="003366"/>
                </a:solidFill>
              </a:defRPr>
            </a:pPr>
            <a:r>
              <a:t>👥 Common Citizens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Have no public, trusted way to verify whether a building has statutory approvals.</a:t>
            </a:r>
            <a:br/>
            <a:br/>
            <a:r>
              <a:t>• No online public permit verification</a:t>
            </a:r>
            <a:br/>
            <a:r>
              <a:t>• Unauthorized constructions go undetected</a:t>
            </a:r>
            <a:br/>
            <a:r>
              <a:t>• Complete lack of civic transparency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120640"/>
            <a:ext cx="10362895" cy="1097280"/>
          </a:xfrm>
          <a:prstGeom prst="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300" b="1">
                <a:solidFill>
                  <a:srgbClr val="B91C1C"/>
                </a:solidFill>
              </a:defRPr>
            </a:pPr>
            <a:r>
              <a:t>ROOT CAUSE ANALYSIS:</a:t>
            </a:r>
          </a:p>
          <a:p>
            <a:pPr>
              <a:defRPr sz="1200">
                <a:solidFill>
                  <a:srgbClr val="991B1B"/>
                </a:solidFill>
              </a:defRPr>
            </a:pPr>
            <a:r>
              <a:t>A chain of departments approving sequentially, but operating in complete silos with no unified state machine, no enforceable order, and no immutable audit ledger.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02 · DESIGN THE SOLUTION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One digital chain, any number of departments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10215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LinkUp • Building Permit Approval Management System | Team: The paradigm | Slide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1874519" cy="2011680"/>
          </a:xfrm>
          <a:prstGeom prst="roundRect">
            <a:avLst/>
          </a:prstGeom>
          <a:solidFill>
            <a:srgbClr val="00336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6459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1. Applicant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Unified Filing</a:t>
            </a:r>
            <a:br/>
            <a:r>
              <a:t>Mandatory Docs</a:t>
            </a:r>
            <a:br/>
            <a:r>
              <a:t>Universal ID (BP-2026-X)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19" y="2103120"/>
            <a:ext cx="2286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EA580C"/>
                </a:solidFill>
              </a:defRPr>
            </a:pPr>
            <a: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463040"/>
            <a:ext cx="1874519" cy="2011680"/>
          </a:xfrm>
          <a:prstGeom prst="roundRect">
            <a:avLst/>
          </a:prstGeom>
          <a:solidFill>
            <a:srgbClr val="00336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6459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2. Town Planning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Checker Scrutiny</a:t>
            </a:r>
            <a:br/>
            <a:r>
              <a:t>Approver Sign-Off</a:t>
            </a:r>
            <a:br/>
            <a:r>
              <a:t>Zoning &amp; FAR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39" y="2103120"/>
            <a:ext cx="2286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EA580C"/>
                </a:solidFill>
              </a:defRPr>
            </a:pPr>
            <a: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463040"/>
            <a:ext cx="1874519" cy="2011680"/>
          </a:xfrm>
          <a:prstGeom prst="roundRect">
            <a:avLst/>
          </a:prstGeom>
          <a:solidFill>
            <a:srgbClr val="00336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6459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 Fire &amp; Safety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Checker Scrutiny</a:t>
            </a:r>
            <a:br/>
            <a:r>
              <a:t>Approver Sign-Off</a:t>
            </a:r>
            <a:br/>
            <a:r>
              <a:t>Egress &amp; Fire NOC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59" y="2103120"/>
            <a:ext cx="2286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EA580C"/>
                </a:solidFill>
              </a:defRPr>
            </a:pPr>
            <a:r>
              <a:t>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23759" y="1463040"/>
            <a:ext cx="1874519" cy="2011680"/>
          </a:xfrm>
          <a:prstGeom prst="roundRect">
            <a:avLst/>
          </a:prstGeom>
          <a:solidFill>
            <a:srgbClr val="00336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6459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4. Environment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Checker Scrutiny</a:t>
            </a:r>
            <a:br/>
            <a:r>
              <a:t>Approver Sign-Off</a:t>
            </a:r>
            <a:br/>
            <a:r>
              <a:t>Pollution Clearance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78" y="2103120"/>
            <a:ext cx="2286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600" b="1">
                <a:solidFill>
                  <a:srgbClr val="EA580C"/>
                </a:solidFill>
              </a:defRPr>
            </a:pPr>
            <a: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463040"/>
            <a:ext cx="1874519" cy="2011680"/>
          </a:xfrm>
          <a:prstGeom prst="roundRect">
            <a:avLst/>
          </a:prstGeom>
          <a:solidFill>
            <a:srgbClr val="16A34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6459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5. Final Permit</a:t>
            </a:r>
          </a:p>
          <a:p>
            <a:pPr>
              <a:defRPr sz="1050">
                <a:solidFill>
                  <a:srgbClr val="E2E8F0"/>
                </a:solidFill>
              </a:defRPr>
            </a:pPr>
            <a:r>
              <a:t>Digital Certificate</a:t>
            </a:r>
            <a:br/>
            <a:r>
              <a:t>Verification QR</a:t>
            </a:r>
            <a:br/>
            <a:r>
              <a:t>Public Registry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749039"/>
            <a:ext cx="3291840" cy="137160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↩️ Send Back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Corrections required. File returned to applicant with mandatory written remarks. Applicant resubmits without starting over.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3749039"/>
            <a:ext cx="3291840" cy="1371600"/>
          </a:xfrm>
          <a:prstGeom prst="rect">
            <a:avLst/>
          </a:prstGeom>
          <a:solidFill>
            <a:srgbClr val="F1F5F9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 b="1">
                <a:solidFill>
                  <a:srgbClr val="003366"/>
                </a:solidFill>
              </a:defRPr>
            </a:pPr>
            <a:r>
              <a:t>⏸️ Hold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Processing temporarily paused pending external clarification (e.g. land boundary verification). Remarks mandatory. One-click Resume.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3749039"/>
            <a:ext cx="3291840" cy="1371600"/>
          </a:xfrm>
          <a:prstGeom prst="rect">
            <a:avLst/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🛑 Decline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Adverse statutory decision with legally grounded mandatory remarks. Application stops; doesn't silently propagate.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5394960"/>
            <a:ext cx="10362895" cy="822960"/>
          </a:xfrm>
          <a:prstGeom prst="rect">
            <a:avLst/>
          </a:prstGeom>
          <a:solidFill>
            <a:srgbClr val="003366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THE GOLDEN RULE (BR-03):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No downstream department can process an application until the previous department has fully approved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03 · BUILD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Simple, secure and enterprise-grade architecture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10215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LinkUp • Building Permit Approval Management System | Team: The paradigm | Slide 4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63040"/>
            <a:ext cx="5486400" cy="960120"/>
          </a:xfrm>
          <a:prstGeom prst="rect">
            <a:avLst/>
          </a:prstGeom>
          <a:solidFill>
            <a:srgbClr val="003366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Client Tier (Web Browser)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Next.js App Router (Vinext) • React 19 • TypeScript • Tailwind CSS v4 • GIGW Accessibility Suite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606040"/>
            <a:ext cx="5486400" cy="960120"/>
          </a:xfrm>
          <a:prstGeom prst="rect">
            <a:avLst/>
          </a:prstGeom>
          <a:solidFill>
            <a:srgbClr val="10385C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API &amp; Gateway Tier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Secure REST APIs over HTTPS • Cloudflare Edge / Workers • JSON Data Serialization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749039"/>
            <a:ext cx="5486400" cy="960120"/>
          </a:xfrm>
          <a:prstGeom prst="rect">
            <a:avLst/>
          </a:prstGeom>
          <a:solidFill>
            <a:srgbClr val="0B2B47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Application &amp; Workflow Engine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Node.js Core Orchestrator • Sequential State Machine • Role-Based Scrutiny Controller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4892040"/>
            <a:ext cx="5486400" cy="960120"/>
          </a:xfrm>
          <a:prstGeom prst="rect">
            <a:avLst/>
          </a:prstGeom>
          <a:solidFill>
            <a:srgbClr val="071E32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09728"/>
          <a:lstStyle/>
          <a:p>
            <a:pPr algn="ctr">
              <a:defRPr sz="1200" b="1">
                <a:solidFill>
                  <a:srgbClr val="F59E0B"/>
                </a:solidFill>
              </a:defRPr>
            </a:pPr>
            <a:r>
              <a:t>Storage, Auth &amp; Audit Tier</a:t>
            </a:r>
          </a:p>
          <a:p>
            <a:pPr>
              <a:defRPr sz="1000">
                <a:solidFill>
                  <a:srgbClr val="FFFFFF"/>
                </a:solidFill>
              </a:defRPr>
            </a:pPr>
            <a:r>
              <a:t>Firebase Auth / SSO • Database Repository • Document Storage • Immutable Audit Ledger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463040"/>
            <a:ext cx="4572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50" b="1">
                <a:solidFill>
                  <a:srgbClr val="003366"/>
                </a:solidFill>
              </a:defRPr>
            </a:pPr>
            <a:r>
              <a:t>🔐 Google Sign-In &amp; Firebase Auth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Officials and applicants authenticate securely. No plain-text passwords stored; token-based session management.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606040"/>
            <a:ext cx="4572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50" b="1">
                <a:solidFill>
                  <a:srgbClr val="003366"/>
                </a:solidFill>
              </a:defRPr>
            </a:pPr>
            <a:r>
              <a:t>🛡️ Enforced Sequential Validation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The server-side rule engine blocks any attempt to skip departments or take actions out of sequence.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3749039"/>
            <a:ext cx="4572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50" b="1">
                <a:solidFill>
                  <a:srgbClr val="003366"/>
                </a:solidFill>
              </a:defRPr>
            </a:pPr>
            <a:r>
              <a:t>👥 Two-Tier Role-Based Access (RBAC)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Each department has dedicated Checker (scrutiny) and Approver (decision) desks. Citizens see public data 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4892040"/>
            <a:ext cx="4572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150" b="1">
                <a:solidFill>
                  <a:srgbClr val="003366"/>
                </a:solidFill>
              </a:defRPr>
            </a:pPr>
            <a:r>
              <a:t>📜 Complete Immutable Audit Trail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Every check, hold, forwarding, remark, and approval is logged: WHO, WHEN, WHAT, and WHY.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04 · DEMONSTRATE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One application, three stakeholder perspectives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10215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LinkUp • Building Permit Approval Management System | Team: The paradigm | Slide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463040"/>
            <a:ext cx="329184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463040"/>
            <a:ext cx="3291840" cy="5943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👤 Applicant Perspective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48840"/>
            <a:ext cx="3017520" cy="2651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Fills 5-step intuitive digital application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Uploads verified title deeds &amp; blueprints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Receives universal ID (e.g. BP-2026-000001)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Views department remarks directly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Rectifies &amp; resubmits immediately if sent 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63040"/>
            <a:ext cx="329184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3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463040"/>
            <a:ext cx="3291840" cy="594360"/>
          </a:xfrm>
          <a:prstGeom prst="rect">
            <a:avLst/>
          </a:prstGeom>
          <a:solidFill>
            <a:srgbClr val="103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🏢 Department Officials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148840"/>
            <a:ext cx="3017520" cy="2651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Checker verifies document completeness &amp; bylaws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Approver reviews checker recommendation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Take recorded actions: Approve, Hold, or Send Back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Mandatory justification required for adverse action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Approval automatically activates next department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63040"/>
            <a:ext cx="329184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B2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3291840" cy="594360"/>
          </a:xfrm>
          <a:prstGeom prst="rect">
            <a:avLst/>
          </a:prstGeom>
          <a:solidFill>
            <a:srgbClr val="0B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🌐 Common Citizen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2148840"/>
            <a:ext cx="3017520" cy="2651760"/>
          </a:xfrm>
          <a:prstGeom prst="rect">
            <a:avLst/>
          </a:prstGeom>
          <a:noFill/>
        </p:spPr>
        <p:txBody>
          <a:bodyPr wrap="square" tIns="0" lIns="0">
            <a:spAutoFit/>
          </a:bodyPr>
          <a:lstStyle/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Enters application number on public portal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Views live milestone progress across all 3 tiers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Inspects approval dates and department status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Sensitive applicant ID proofs remain shielded (BR-10)</a:t>
            </a:r>
          </a:p>
          <a:p>
            <a:pPr>
              <a:spcAft>
                <a:spcPts val="600"/>
              </a:spcAft>
              <a:defRPr sz="1050">
                <a:solidFill>
                  <a:srgbClr val="1E293B"/>
                </a:solidFill>
              </a:defRPr>
            </a:pPr>
            <a:r>
              <a:t>✔  Can express interest in approved building units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303520"/>
            <a:ext cx="10362895" cy="868680"/>
          </a:xfrm>
          <a:prstGeom prst="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37160"/>
          <a:lstStyle/>
          <a:p>
            <a:pPr algn="ctr">
              <a:defRPr sz="1200" b="1">
                <a:solidFill>
                  <a:srgbClr val="15803D"/>
                </a:solidFill>
              </a:defRPr>
            </a:pPr>
            <a:r>
              <a:t>DEMONSTRATED OUTCOME:</a:t>
            </a:r>
          </a:p>
          <a:p>
            <a:pPr>
              <a:defRPr sz="1150">
                <a:solidFill>
                  <a:srgbClr val="166534"/>
                </a:solidFill>
              </a:defRPr>
            </a:pPr>
            <a:r>
              <a:t>Clearance moves seamlessly across Town Planning ➔ Fire &amp; Safety ➔ Environment to FINAL APPROVED with 100% auditability and zero physical visits.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2B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822960"/>
          </a:xfrm>
          <a:prstGeom prst="rect">
            <a:avLst/>
          </a:prstGeom>
          <a:noFill/>
        </p:spPr>
        <p:txBody>
          <a:bodyPr wrap="square" tIns="0" bIns="0" l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05 · DELIVER IMPACT</a:t>
            </a:r>
          </a:p>
          <a:p>
            <a:pPr>
              <a:defRPr sz="2000" b="1">
                <a:solidFill>
                  <a:srgbClr val="FFFFFF"/>
                </a:solidFill>
              </a:defRPr>
            </a:pPr>
            <a:r>
              <a:t>Measurable transparency, ready to scale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64592"/>
            <a:ext cx="1828800" cy="10215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492240"/>
            <a:ext cx="10728655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LinkUp • Building Permit Approval Management System | Team: The paradigm | Slide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TARGETED SUCCESS METRICS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737360"/>
            <a:ext cx="24231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↓ 70%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Decision Turnaround Time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Eliminating manual file handoffs through real-time notifications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737360"/>
            <a:ext cx="24231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↓ 80%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Return Cycles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Mandatory specific remarks remove vague, repeated rejections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291839"/>
            <a:ext cx="24231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0 Visits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Physical Office Inquiries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100% self-serve online status tracking for applicants &amp; citizens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3291839"/>
            <a:ext cx="242316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100%</a:t>
            </a:r>
          </a:p>
          <a:p>
            <a:pPr>
              <a:defRPr sz="1100" b="1">
                <a:solidFill>
                  <a:srgbClr val="1E293B"/>
                </a:solidFill>
              </a:defRPr>
            </a:pPr>
            <a:r>
              <a:t>Audit Traceability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Every statutory approval, hold, and remark logged indelibly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48764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SCALABILITY &amp; PRODUCT ROADMAP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4876495" cy="1051560"/>
          </a:xfrm>
          <a:prstGeom prst="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50" b="1">
                <a:solidFill>
                  <a:srgbClr val="16A34A"/>
                </a:solidFill>
              </a:defRPr>
            </a:pPr>
            <a:r>
              <a:t>PHASE 1 (NOW · WORKING MVP)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Configurable 3-department sequential pipeline</a:t>
            </a:r>
            <a:br/>
            <a:r>
              <a:t>• Two-tier Checker &amp; Approver workflows</a:t>
            </a:r>
            <a:br/>
            <a:r>
              <a:t>• Public citizen inquiry &amp; live progress tracking</a:t>
            </a:r>
            <a:br/>
            <a:r>
              <a:t>• GIGW / WCAG 2.0 AA compliant accessibility suite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880360"/>
            <a:ext cx="4876495" cy="1051560"/>
          </a:xfrm>
          <a:prstGeom prst="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50" b="1">
                <a:solidFill>
                  <a:srgbClr val="D97706"/>
                </a:solidFill>
              </a:defRPr>
            </a:pPr>
            <a:r>
              <a:t>PHASE 2 (NEXT · AUTOMATION &amp; ALERTS)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Real-time SMS, WhatsApp &amp; Email notification webhooks</a:t>
            </a:r>
            <a:br/>
            <a:r>
              <a:t>• Integrated Bharatkosh / Municipal online fee payments</a:t>
            </a:r>
            <a:br/>
            <a:r>
              <a:t>• Proactive SLA monitoring &amp; automated HoD escalations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4023360"/>
            <a:ext cx="4876495" cy="1051560"/>
          </a:xfrm>
          <a:prstGeom prst="rect">
            <a:avLst/>
          </a:prstGeom>
          <a:solidFill>
            <a:srgbClr val="F1F5F9"/>
          </a:solidFill>
          <a:ln w="1905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050" b="1">
                <a:solidFill>
                  <a:srgbClr val="003366"/>
                </a:solidFill>
              </a:defRPr>
            </a:pPr>
            <a:r>
              <a:t>PHASE 3 (LATER · ADVANCED GOVTECH)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GIS cadastral map overlays &amp; master-plan zoning AI</a:t>
            </a:r>
            <a:br/>
            <a:r>
              <a:t>• Aadhaar e-Sign / PKI digital signature integration</a:t>
            </a:r>
            <a:br/>
            <a:r>
              <a:t>• Automated AutoCAD building-plan rule compliance checking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303520"/>
            <a:ext cx="10362895" cy="868680"/>
          </a:xfrm>
          <a:prstGeom prst="rect">
            <a:avLst/>
          </a:prstGeom>
          <a:solidFill>
            <a:srgbClr val="003366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16459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LinkUp: Transparent permits, connected departments, accountable governance.</a:t>
            </a:r>
          </a:p>
          <a:p>
            <a:pPr algn="ctr">
              <a:defRPr sz="1100" b="1">
                <a:solidFill>
                  <a:srgbClr val="F59E0B"/>
                </a:solidFill>
              </a:defRPr>
            </a:pPr>
            <a:r>
              <a:t>Thank you!  •  Team: The paradigm  •  Problem Statement: Gov Tech PS1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
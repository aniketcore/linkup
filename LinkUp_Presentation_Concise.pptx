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2140080"/>
            <a:ext cx="10362895" cy="594360"/>
          </a:xfrm>
          <a:prstGeom prst="roundRect">
            <a:avLst/>
          </a:prstGeom>
          <a:solidFill>
            <a:srgbClr val="10385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rPr dirty="0"/>
              <a:t>🏛️ PS: Cross-Departmental service request tracking for Multi-Departmental government services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63040"/>
            <a:ext cx="3474720" cy="19409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2871600"/>
            <a:ext cx="6583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Building Permit Approval &amp;</a:t>
            </a:r>
            <a:br>
              <a:rPr dirty="0"/>
            </a:br>
            <a:r>
              <a:rPr dirty="0"/>
              <a:t>Tracking System (BPAMS)</a:t>
            </a:r>
          </a:p>
          <a:p>
            <a:pPr>
              <a:defRPr sz="1700" b="1">
                <a:solidFill>
                  <a:srgbClr val="F59E0B"/>
                </a:solidFill>
              </a:defRPr>
            </a:pPr>
            <a:r>
              <a:rPr dirty="0"/>
              <a:t>One permit. Many departments. Zero blind spots.</a:t>
            </a:r>
          </a:p>
          <a:p>
            <a:pPr>
              <a:defRPr sz="1250">
                <a:solidFill>
                  <a:srgbClr val="E2E8F0"/>
                </a:solidFill>
              </a:defRPr>
            </a:pPr>
            <a:r>
              <a:rPr dirty="0"/>
              <a:t>Sequential permit workflow with real-time tracking for applicants, officials, and citizens.</a:t>
            </a:r>
          </a:p>
        </p:txBody>
      </p:sp>
      <p:sp>
        <p:nvSpPr>
          <p:cNvPr id="13" name="TextBox Team"/>
          <p:cNvSpPr txBox="1"/>
          <p:nvPr/>
        </p:nvSpPr>
        <p:spPr>
          <a:xfrm>
            <a:off x="4754880" y="4400000"/>
            <a:ext cx="6583680" cy="7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1200" b="1" dirty="0">
                <a:solidFill>
                  <a:srgbClr val="EA580C"/>
                </a:solidFill>
              </a:rPr>
              <a:t>TEAM: THE PARADIGM</a:t>
            </a:r>
          </a:p>
          <a:p>
            <a:r>
              <a:rPr lang="en-US" sz="1400" b="0" dirty="0">
                <a:solidFill>
                  <a:srgbClr val="FFFFFF"/>
                </a:solidFill>
              </a:rPr>
              <a:t>Prakhar Mathur (Leader)  •  Diwakar Sahai  •  Dhruv Sharma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8229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01 · DEFINE THE PROBLEM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Nobody can see where a permit is stuck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828800" cy="10215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LinkUp • Building Permit Approval Management System | Team: The paradigm | Slide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329184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👤 Applicants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Repeated office visits for status.</a:t>
            </a:r>
            <a:br/>
            <a:br/>
            <a:r>
              <a:t>• Manual file tracing</a:t>
            </a:r>
            <a:br/>
            <a:r>
              <a:t>• Weeks of delay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63040"/>
            <a:ext cx="329184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🏢 Departments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Paper files, no shared records.</a:t>
            </a:r>
            <a:br/>
            <a:br/>
            <a:r>
              <a:t>• Siloed files</a:t>
            </a:r>
            <a:br/>
            <a:r>
              <a:t>• No view of prior clearances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👥 Common Citizens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No way to verify a building's approvals.</a:t>
            </a:r>
            <a:br/>
            <a:br/>
            <a:r>
              <a:t>• No public verification</a:t>
            </a:r>
            <a:br/>
            <a:r>
              <a:t>• Illegal builds go unnoticed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120640"/>
            <a:ext cx="10362895" cy="1097280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defRPr sz="1300" b="1">
                <a:solidFill>
                  <a:srgbClr val="B91C1C"/>
                </a:solidFill>
              </a:defRPr>
            </a:pPr>
            <a:r>
              <a:t>ROOT CAUSE ANALYSIS:</a:t>
            </a:r>
          </a:p>
          <a:p>
            <a:pPr>
              <a:defRPr sz="1200">
                <a:solidFill>
                  <a:srgbClr val="991B1B"/>
                </a:solidFill>
              </a:defRPr>
            </a:pPr>
            <a:r>
              <a:t>Departments approve in sequence but in silos: no unified workflow, no enforced order, no audit ledger.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8229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02 · DESIGN THE SOLUTION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One digital chain, any number of departments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828800" cy="10215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LinkUp • Building Permit Approval Management System | Team: The paradigm | Slide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1874519" cy="2011680"/>
          </a:xfrm>
          <a:prstGeom prst="roundRect">
            <a:avLst/>
          </a:prstGeom>
          <a:solidFill>
            <a:srgbClr val="00336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64592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1. Applicant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Single filing</a:t>
            </a:r>
            <a:br/>
            <a:r>
              <a:t>Universal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19" y="2103120"/>
            <a:ext cx="2286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600" b="1">
                <a:solidFill>
                  <a:srgbClr val="EA580C"/>
                </a:solidFill>
              </a:defRPr>
            </a:pPr>
            <a:r>
              <a:t>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463040"/>
            <a:ext cx="1874519" cy="2011680"/>
          </a:xfrm>
          <a:prstGeom prst="roundRect">
            <a:avLst/>
          </a:prstGeom>
          <a:solidFill>
            <a:srgbClr val="00336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64592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2. Town Planning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Checker scrutiny</a:t>
            </a:r>
            <a:br/>
            <a:r>
              <a:t>Approver sign-off</a:t>
            </a:r>
            <a:br/>
            <a:r>
              <a:t>Zoning &amp; FAR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39" y="2103120"/>
            <a:ext cx="2286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600" b="1">
                <a:solidFill>
                  <a:srgbClr val="EA580C"/>
                </a:solidFill>
              </a:defRPr>
            </a:pPr>
            <a:r>
              <a:t>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463040"/>
            <a:ext cx="1874519" cy="2011680"/>
          </a:xfrm>
          <a:prstGeom prst="roundRect">
            <a:avLst/>
          </a:prstGeom>
          <a:solidFill>
            <a:srgbClr val="00336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64592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3. Fire &amp; Safety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Checker scrutiny</a:t>
            </a:r>
            <a:br/>
            <a:r>
              <a:t>Approver sign-off</a:t>
            </a:r>
            <a:br/>
            <a:r>
              <a:t>Fire NOC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9" y="2103120"/>
            <a:ext cx="2286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600" b="1">
                <a:solidFill>
                  <a:srgbClr val="EA580C"/>
                </a:solidFill>
              </a:defRPr>
            </a:pPr>
            <a:r>
              <a:t>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59" y="1463040"/>
            <a:ext cx="1874519" cy="2011680"/>
          </a:xfrm>
          <a:prstGeom prst="roundRect">
            <a:avLst/>
          </a:prstGeom>
          <a:solidFill>
            <a:srgbClr val="00336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64592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4. Environment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Checker scrutiny</a:t>
            </a:r>
            <a:br/>
            <a:r>
              <a:t>Approver sign-off</a:t>
            </a:r>
            <a:br/>
            <a:r>
              <a:t>Pollution clearance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78" y="2103120"/>
            <a:ext cx="2286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600" b="1">
                <a:solidFill>
                  <a:srgbClr val="EA580C"/>
                </a:solidFill>
              </a:defRPr>
            </a:pPr>
            <a:r>
              <a:t>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1463040"/>
            <a:ext cx="1874519" cy="2011680"/>
          </a:xfrm>
          <a:prstGeom prst="roundRect">
            <a:avLst/>
          </a:prstGeom>
          <a:solidFill>
            <a:srgbClr val="16A34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64592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5. Final Permit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Digital certificate</a:t>
            </a:r>
            <a:br/>
            <a:r>
              <a:t>Verification QR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749039"/>
            <a:ext cx="3291840" cy="137160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↩️ Send Back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Returned to applicant with written remarks. Resubmit without restarting.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3749039"/>
            <a:ext cx="3291840" cy="1371600"/>
          </a:xfrm>
          <a:prstGeom prst="rect">
            <a:avLst/>
          </a:prstGeom>
          <a:solidFill>
            <a:srgbClr val="F1F5F9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300" b="1">
                <a:solidFill>
                  <a:srgbClr val="003366"/>
                </a:solidFill>
              </a:defRPr>
            </a:pPr>
            <a:r>
              <a:t>⏸️ Hold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Paused pending external clarification. Remarks mandatory; one-click resume.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3749039"/>
            <a:ext cx="3291840" cy="137160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🛑 Decline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Final adverse decision with mandatory remarks. Application stops.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394960"/>
            <a:ext cx="10362895" cy="822960"/>
          </a:xfrm>
          <a:prstGeom prst="rect">
            <a:avLst/>
          </a:prstGeom>
          <a:solidFill>
            <a:srgbClr val="003366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37160" rtlCol="0" anchor="ctr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THE GOLDEN RULE (BR-03):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No department can act until the previous one has approved.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8229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03 · BUILD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Simple, secure and enterprise-grade architecture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828800" cy="10215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LinkUp • Building Permit Approval Management System | Team: The paradigm | Slide 4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5486400" cy="960120"/>
          </a:xfrm>
          <a:prstGeom prst="rect">
            <a:avLst/>
          </a:prstGeom>
          <a:solidFill>
            <a:srgbClr val="003366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Client Tier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Next.js • React 19 • TypeScript • Tailwind CSS v4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606040"/>
            <a:ext cx="5486400" cy="960120"/>
          </a:xfrm>
          <a:prstGeom prst="rect">
            <a:avLst/>
          </a:prstGeom>
          <a:solidFill>
            <a:srgbClr val="10385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API Tier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REST over HTTPS • Cloudflare Workers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749039"/>
            <a:ext cx="5486400" cy="960120"/>
          </a:xfrm>
          <a:prstGeom prst="rect">
            <a:avLst/>
          </a:prstGeom>
          <a:solidFill>
            <a:srgbClr val="0B2B47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Workflow Engine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Node.js • Sequential state machine • Role-based controller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892040"/>
            <a:ext cx="5486400" cy="960120"/>
          </a:xfrm>
          <a:prstGeom prst="rect">
            <a:avLst/>
          </a:prstGeom>
          <a:solidFill>
            <a:srgbClr val="071E32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Storage &amp; Audit Tier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Firebase Auth • Database • Document storage • Audit ledger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463040"/>
            <a:ext cx="4572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150" b="1">
                <a:solidFill>
                  <a:srgbClr val="003366"/>
                </a:solidFill>
              </a:defRPr>
            </a:pPr>
            <a:r>
              <a:t>🔐 Secure Sign-In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Token-based sessions; no plain-text passwords.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606040"/>
            <a:ext cx="4572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150" b="1">
                <a:solidFill>
                  <a:srgbClr val="003366"/>
                </a:solidFill>
              </a:defRPr>
            </a:pPr>
            <a:r>
              <a:t>🛡️ Enforced Sequential Validation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Server-side rules block skipped or out-of-order actions.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3749039"/>
            <a:ext cx="4572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150" b="1">
                <a:solidFill>
                  <a:srgbClr val="003366"/>
                </a:solidFill>
              </a:defRPr>
            </a:pPr>
            <a:r>
              <a:t>👥 Two-Tier RBAC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Checker and Approver desks per department; citizens see public data only.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4892040"/>
            <a:ext cx="4572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150" b="1">
                <a:solidFill>
                  <a:srgbClr val="003366"/>
                </a:solidFill>
              </a:defRPr>
            </a:pPr>
            <a:r>
              <a:t>📜 Immutable Audit Trail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Every action logged: who, when, what, why.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8229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04 · DEMONSTRATE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One application, three stakeholder perspectives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828800" cy="10215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LinkUp • Building Permit Approval Management System | Team: The paradigm | Slide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329184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1463040"/>
            <a:ext cx="3291840" cy="5943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👤 Applicant Perspective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48840"/>
            <a:ext cx="3017520" cy="2651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Files a 5-step digital application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Uploads deeds &amp; blueprints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Gets a universal ID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Sees department remarks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80560" y="1463040"/>
            <a:ext cx="329184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1463040"/>
            <a:ext cx="3291840" cy="594360"/>
          </a:xfrm>
          <a:prstGeom prst="rect">
            <a:avLst/>
          </a:prstGeom>
          <a:solidFill>
            <a:srgbClr val="10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🏢 Department Officials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48840"/>
            <a:ext cx="3017520" cy="2651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Checker verifies documents &amp; bylaws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Approver reviews recommendation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Approve, Hold, or Send Back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Justification required for adverse action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29184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463040"/>
            <a:ext cx="3291840" cy="594360"/>
          </a:xfrm>
          <a:prstGeom prst="rect">
            <a:avLst/>
          </a:prstGeom>
          <a:solidFill>
            <a:srgbClr val="0B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🌐 Common Citizen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148840"/>
            <a:ext cx="3017520" cy="2651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Looks up application number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Views live progress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Checks approval dates &amp; status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Applicant ID proofs stay shielded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4400" y="5303520"/>
            <a:ext cx="10362895" cy="86868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37160" rtlCol="0" anchor="ctr"/>
          <a:lstStyle/>
          <a:p>
            <a:pPr algn="ctr">
              <a:defRPr sz="1200" b="1">
                <a:solidFill>
                  <a:srgbClr val="15803D"/>
                </a:solidFill>
              </a:defRPr>
            </a:pPr>
            <a:r>
              <a:t>DEMONSTRATED OUTCOME:</a:t>
            </a:r>
          </a:p>
          <a:p>
            <a:pPr>
              <a:defRPr sz="1150">
                <a:solidFill>
                  <a:srgbClr val="166534"/>
                </a:solidFill>
              </a:defRPr>
            </a:pPr>
            <a:r>
              <a:t>Town Planning ➔ Fire &amp; Safety ➔ Environment ➔ Approved, fully audited, zero office visits.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8229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05 · DELIVER IMPACT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Measurable transparency, ready to scale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828800" cy="10215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LinkUp • Building Permit Approval Management System | Team: The paradigm | Slide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TARGETED SUCCESS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737360"/>
            <a:ext cx="24231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↓ 70%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Decision Turnaround Time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Real-time notifications replace manual handoffs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737360"/>
            <a:ext cx="24231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↓ 80%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Return Cycles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Specific remarks end vague rejections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91839"/>
            <a:ext cx="24231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0 Visits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Physical Office Inquiries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Fully self-serve online tracking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3291839"/>
            <a:ext cx="24231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100%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Audit Traceability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Every action logged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48764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SCALABILITY &amp; PRODUCT ROADMAP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737360"/>
            <a:ext cx="4876495" cy="105156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050" b="1">
                <a:solidFill>
                  <a:srgbClr val="16A34A"/>
                </a:solidFill>
              </a:defRPr>
            </a:pPr>
            <a:r>
              <a:t>PHASE 1 · NOW (MVP)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Configurable 3-department pipeline</a:t>
            </a:r>
            <a:br/>
            <a:r>
              <a:t>• Checker &amp; Approver workflows</a:t>
            </a:r>
            <a:br/>
            <a:r>
              <a:t>• Public live tracking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880360"/>
            <a:ext cx="4876495" cy="105156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050" b="1">
                <a:solidFill>
                  <a:srgbClr val="D97706"/>
                </a:solidFill>
              </a:defRPr>
            </a:pPr>
            <a:r>
              <a:t>PHASE 2 · NEXT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SMS, WhatsApp &amp; email alerts</a:t>
            </a:r>
            <a:br/>
            <a:r>
              <a:t>• Online fee payments</a:t>
            </a:r>
            <a:br/>
            <a:r>
              <a:t>• SLA monitoring &amp; escalations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023360"/>
            <a:ext cx="4876495" cy="1051560"/>
          </a:xfrm>
          <a:prstGeom prst="rect">
            <a:avLst/>
          </a:prstGeom>
          <a:solidFill>
            <a:srgbClr val="F1F5F9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050" b="1">
                <a:solidFill>
                  <a:srgbClr val="003366"/>
                </a:solidFill>
              </a:defRPr>
            </a:pPr>
            <a:r>
              <a:t>PHASE 3 · LATER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GIS map overlays</a:t>
            </a:r>
            <a:br/>
            <a:r>
              <a:t>• Aadhaar e-Sign</a:t>
            </a:r>
            <a:br/>
            <a:r>
              <a:t>• Automated plan compliance checks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303520"/>
            <a:ext cx="10362895" cy="868680"/>
          </a:xfrm>
          <a:prstGeom prst="rect">
            <a:avLst/>
          </a:prstGeom>
          <a:solidFill>
            <a:srgbClr val="00336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LinkUp: Transparent permits. Accountable governance.</a:t>
            </a:r>
          </a:p>
          <a:p>
            <a:pPr algn="ctr">
              <a:defRPr sz="1100" b="1">
                <a:solidFill>
                  <a:srgbClr val="F59E0B"/>
                </a:solidFill>
              </a:defRPr>
            </a:pPr>
            <a:r>
              <a:t>Thank you!  •  Team: The paradigm  •  Problem Statement: Gov Tech PS1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716</Words>
  <Application>Microsoft Office PowerPoint</Application>
  <PresentationFormat>Widescreen</PresentationFormat>
  <Paragraphs>106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Prakhar Mathur</dc:creator>
  <cp:keywords/>
  <dc:description>generated using python-pptx</dc:description>
  <cp:lastModifiedBy>Prakhar Mathur</cp:lastModifiedBy>
  <cp:revision>4</cp:revision>
  <dcterms:created xsi:type="dcterms:W3CDTF">2013-01-27T09:14:16Z</dcterms:created>
  <dcterms:modified xsi:type="dcterms:W3CDTF">2026-10-09T04:25:21Z</dcterms:modified>
  <cp:category/>
</cp:coreProperties>
</file>